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7" r:id="rId2"/>
    <p:sldId id="258" r:id="rId3"/>
    <p:sldId id="299" r:id="rId4"/>
    <p:sldId id="305" r:id="rId5"/>
    <p:sldId id="306" r:id="rId6"/>
    <p:sldId id="281" r:id="rId7"/>
    <p:sldId id="265" r:id="rId8"/>
    <p:sldId id="295" r:id="rId9"/>
    <p:sldId id="296" r:id="rId10"/>
    <p:sldId id="267" r:id="rId11"/>
  </p:sldIdLst>
  <p:sldSz cx="12192000" cy="6858000"/>
  <p:notesSz cx="6858000" cy="9144000"/>
  <p:embeddedFontLst>
    <p:embeddedFont>
      <p:font typeface="Jost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7" autoAdjust="0"/>
    <p:restoredTop sz="94660"/>
  </p:normalViewPr>
  <p:slideViewPr>
    <p:cSldViewPr snapToGrid="0">
      <p:cViewPr>
        <p:scale>
          <a:sx n="77" d="100"/>
          <a:sy n="77" d="100"/>
        </p:scale>
        <p:origin x="57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89b10e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689b10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E78C53F-EDBA-2E3D-4599-F61B79F1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64D759A-5D27-80EE-92C3-E32257387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1099787-8128-88FF-4AC8-256120553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03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2EAD086-209E-5E10-A2CA-45D5B717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DC43109C-18D4-F669-BF14-F397FE56D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14E5BC6-CCD0-48CA-A03B-EF1CED84D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9055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83B68D8-DF5D-3463-9114-CBF6971B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0E7A3524-04A5-0C96-20C5-0B224CB7B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48923B94-415E-3832-6D98-2877D16F2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3851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8F99EC4-E6A0-DE38-85FB-3A165A81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22BF464C-74CB-A84A-F54F-E27D034B1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106FF71C-D794-879C-100A-22C6AC7E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526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287DD87-277A-721C-7258-47A2E350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5323DE8A-9F54-5E27-B7EF-E5B40DF56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A88C07F0-D380-051C-EB82-7924E9925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034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C808485-0D7D-215D-397E-B7BEFB5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35057E5A-A2AD-CA8D-2783-844DF4FBB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8B302779-DD05-1B9D-7C4A-D820B2E9D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157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-1"/>
            <a:ext cx="12192000" cy="25413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573" y="260073"/>
            <a:ext cx="9693407" cy="197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0" y="3822506"/>
            <a:ext cx="121920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SESIUNEA</a:t>
            </a:r>
            <a:r>
              <a:rPr lang="en-US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7 </a:t>
            </a:r>
            <a:endParaRPr lang="ro-RO" sz="5400" b="1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283F0"/>
                </a:solidFill>
                <a:latin typeface="Jost"/>
                <a:ea typeface="Jost"/>
                <a:sym typeface="Jost"/>
              </a:rPr>
              <a:t>TESTARE, LOGGING &amp; PACKAGING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130" y="686280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b="0" i="0" u="none" strike="noStrike" cap="none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AGENDĂ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300570" y="1791432"/>
            <a:ext cx="9563700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Logging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AI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Testare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unitară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pytest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Structurarea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proiect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Python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Packaging &amp; Deployment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Hands-on: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Pregătirea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proiectului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final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livrare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945B40A-6937-86EF-E1C0-E7EE57D4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C9A09F9-55EA-8AF2-B282-C51412E8295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E104A14A-60A6-64CA-E497-B6354EAB8FE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Logging Cheat Sheet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424A077-8FDB-DB0A-DBE4-66CDB5D283BB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141D0A56-ED9A-6815-2530-7BCD5B8D94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502FB06-8E70-C346-11F1-F840CBBA66B4}"/>
              </a:ext>
            </a:extLst>
          </p:cNvPr>
          <p:cNvSpPr txBox="1"/>
          <p:nvPr/>
        </p:nvSpPr>
        <p:spPr>
          <a:xfrm>
            <a:off x="850144" y="1169484"/>
            <a:ext cx="4075818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print()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 debugging rapid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nu este configurabil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greu de filtrat</a:t>
            </a: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niveluri de severitate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fișiere de log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format consistent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producție</a:t>
            </a:r>
          </a:p>
        </p:txBody>
      </p:sp>
      <p:sp>
        <p:nvSpPr>
          <p:cNvPr id="3" name="Google Shape;159;p21">
            <a:extLst>
              <a:ext uri="{FF2B5EF4-FFF2-40B4-BE49-F238E27FC236}">
                <a16:creationId xmlns:a16="http://schemas.microsoft.com/office/drawing/2014/main" id="{FCB1D8B4-6761-841C-0C0F-40D3B366F36B}"/>
              </a:ext>
            </a:extLst>
          </p:cNvPr>
          <p:cNvSpPr txBox="1"/>
          <p:nvPr/>
        </p:nvSpPr>
        <p:spPr>
          <a:xfrm>
            <a:off x="3421626" y="1169484"/>
            <a:ext cx="8609828" cy="36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LOG_FORMAT = '[%(asctime)s] %(levelname)s [%(module)s]: %(message)s’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logging.basicConfig(format=LOG_FORMAT)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 = logging.getLogger()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logger.setLevel(logging.INFO)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logger.debug()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logger.info()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logger.warning()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logger.error()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logger.critical()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" name="Google Shape;159;p21">
            <a:extLst>
              <a:ext uri="{FF2B5EF4-FFF2-40B4-BE49-F238E27FC236}">
                <a16:creationId xmlns:a16="http://schemas.microsoft.com/office/drawing/2014/main" id="{8A97B96F-26DB-E904-D177-1995866C7998}"/>
              </a:ext>
            </a:extLst>
          </p:cNvPr>
          <p:cNvSpPr txBox="1"/>
          <p:nvPr/>
        </p:nvSpPr>
        <p:spPr>
          <a:xfrm>
            <a:off x="8819171" y="1928609"/>
            <a:ext cx="4075818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Ce Merită logat într-un AI Agent?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User question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Retrieved chunks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Tool calls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Token usage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Cost estimation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Errors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9327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5DBE8FA-8174-E369-7972-586CD6FF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F1901A9-8A04-1893-6F8C-7F4E481CB83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8B2CE971-9BBC-4C4F-EBC7-ADDB8F092F63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Pytest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Cheat Sheet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ECDFBED-8515-0617-E366-F0A9E6007CC8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7DBD5975-63C6-0D27-1969-C3A15D6924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8BB79568-2F20-250A-0E1C-12769E7DCD98}"/>
              </a:ext>
            </a:extLst>
          </p:cNvPr>
          <p:cNvSpPr txBox="1"/>
          <p:nvPr/>
        </p:nvSpPr>
        <p:spPr>
          <a:xfrm>
            <a:off x="859976" y="912188"/>
            <a:ext cx="3063095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Structur</a:t>
            </a:r>
            <a:r>
              <a:rPr lang="ro-RO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 minimă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project/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│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├── agent.py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└── tests/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└── test_agent.py</a:t>
            </a:r>
          </a:p>
          <a:p>
            <a:pPr lvl="0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Pattern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def test_something():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assert ...</a:t>
            </a:r>
          </a:p>
        </p:txBody>
      </p:sp>
      <p:sp>
        <p:nvSpPr>
          <p:cNvPr id="4" name="Google Shape;159;p21">
            <a:extLst>
              <a:ext uri="{FF2B5EF4-FFF2-40B4-BE49-F238E27FC236}">
                <a16:creationId xmlns:a16="http://schemas.microsoft.com/office/drawing/2014/main" id="{5796933B-BF30-0CAA-77CC-835B3C4D1ED0}"/>
              </a:ext>
            </a:extLst>
          </p:cNvPr>
          <p:cNvSpPr txBox="1"/>
          <p:nvPr/>
        </p:nvSpPr>
        <p:spPr>
          <a:xfrm>
            <a:off x="3923071" y="912187"/>
            <a:ext cx="3063095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Ce merită testat?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Chunking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Token counting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Prompt assembly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Semantic search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Tool execution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Nu testați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Ollama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Azure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OpenAI</a:t>
            </a:r>
          </a:p>
          <a:p>
            <a:pPr lvl="0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Acestea sunt servicii externe.</a:t>
            </a:r>
          </a:p>
        </p:txBody>
      </p:sp>
    </p:spTree>
    <p:extLst>
      <p:ext uri="{BB962C8B-B14F-4D97-AF65-F5344CB8AC3E}">
        <p14:creationId xmlns:p14="http://schemas.microsoft.com/office/powerpoint/2010/main" val="408607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B46C815-5B37-ACCB-BA95-62D0DD37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C535C41F-8ADF-314A-39B0-6194E0ACECA0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7C29F012-272D-A22D-603C-97268023AA95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Packaging Cheat Sheet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3C61C06E-9A77-51E5-3575-541A1418715F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BD20EC81-7FAB-AA07-7A00-E49DD2C362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C64CE81-512A-FD2D-4214-9E8FCF0E93D2}"/>
              </a:ext>
            </a:extLst>
          </p:cNvPr>
          <p:cNvSpPr txBox="1"/>
          <p:nvPr/>
        </p:nvSpPr>
        <p:spPr>
          <a:xfrm>
            <a:off x="840311" y="912188"/>
            <a:ext cx="8386412" cy="521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</a:t>
            </a:r>
            <a:r>
              <a:rPr lang="ro-RO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șiere importante</a:t>
            </a:r>
            <a:endParaRPr lang="en-US" sz="1600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requirements.txt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README.md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gitignore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README minim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1. Ce face proiectul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2. Cum se instalează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3. Cum se rulează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4. Exemple de utilizare</a:t>
            </a:r>
          </a:p>
          <a:p>
            <a:pPr lvl="0">
              <a:lnSpc>
                <a:spcPct val="150000"/>
              </a:lnSpc>
            </a:pPr>
            <a:b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Requirements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pip freeze &gt; requirements.txt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i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!</a:t>
            </a:r>
            <a:r>
              <a:rPr lang="ro-RO" i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Dacă cineva nu poate rula proiectul din README, proiectul nu este livrabil.</a:t>
            </a:r>
          </a:p>
        </p:txBody>
      </p:sp>
    </p:spTree>
    <p:extLst>
      <p:ext uri="{BB962C8B-B14F-4D97-AF65-F5344CB8AC3E}">
        <p14:creationId xmlns:p14="http://schemas.microsoft.com/office/powerpoint/2010/main" val="373471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8F30-FF7C-424B-8A69-81441AAB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BEEBAE-4111-7D12-3532-AFB1447A750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AAFAAA9-3395-5C2E-1625-0EF2877F176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Production Readiness Checklist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24AF567-3C41-3FB6-7E6D-41C98A7769F1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9016945-DB8F-F8A5-A30C-8DC6D28EB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6191CF4A-5874-39A8-8D85-2C93C126763C}"/>
              </a:ext>
            </a:extLst>
          </p:cNvPr>
          <p:cNvSpPr txBox="1"/>
          <p:nvPr/>
        </p:nvSpPr>
        <p:spPr>
          <a:xfrm>
            <a:off x="731297" y="1006406"/>
            <a:ext cx="5364704" cy="595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Logging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Error Handling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Config separat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README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Requirements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Tests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Cost Tracking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Input Validation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Fără hardcodări</a:t>
            </a: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Fără chei API în cod</a:t>
            </a:r>
            <a:endParaRPr lang="en-US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en-US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Funcțional ≠ Pregătit pentru producție.</a:t>
            </a: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380359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 – Prima </a:t>
            </a:r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versiune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livrabilă</a:t>
            </a:r>
            <a:endParaRPr lang="en-US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922713" y="1080480"/>
            <a:ext cx="10346575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Creați un fișier: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README.md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Creați un fișier: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requirements.txt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Creați un fișier: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.gitignore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Adăugați toate fișierele proiectului în repository.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README-ul trebuie să conțină: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Descrierea proiectului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Cum se instalează dependențele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Cum se rulează aplicația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Exemple de utilizare</a:t>
            </a: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 generarea fișierului requirements.txt puteți utiliza: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pip freeze &gt; requirements.txt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finalul exercițiului proiectul trebuie să poată fi clonat și rulat de un alt coleg folosind exclusiv documentația din repository.</a:t>
            </a: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37598D8-1686-7B4F-60E6-0D23453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677C7598-998A-2B36-2DF7-DAABBABAEE20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C0A3ECCE-366E-B47C-C7F7-744B1741A9E3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CAF392B4-029A-B1EF-FEFB-CDA865FF8B98}"/>
              </a:ext>
            </a:extLst>
          </p:cNvPr>
          <p:cNvSpPr txBox="1"/>
          <p:nvPr/>
        </p:nvSpPr>
        <p:spPr>
          <a:xfrm>
            <a:off x="0" y="327188"/>
            <a:ext cx="121920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2 – Logging</a:t>
            </a:r>
          </a:p>
          <a:p>
            <a:pPr lvl="0" algn="ctr"/>
            <a:endParaRPr lang="ro-RO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6844D36D-A2D1-BB46-7888-483E81D099D5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1363FED4-74A7-F879-9330-F2787E999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D41B59E5-24E0-863F-B94F-AC06D1CCB213}"/>
              </a:ext>
            </a:extLst>
          </p:cNvPr>
          <p:cNvSpPr txBox="1"/>
          <p:nvPr/>
        </p:nvSpPr>
        <p:spPr>
          <a:xfrm>
            <a:off x="922712" y="1151460"/>
            <a:ext cx="10346575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modulul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logging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adăuga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logging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logger 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nivelul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întrebare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utilizator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model.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 Call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executat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erorile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generate de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cel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puțin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următoarele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niveluri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logger.info(...)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logger.warning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(...)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logger.error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(...)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</a:t>
            </a: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minimă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realizată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logging.basicConfig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(...)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rularea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existe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suficiente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informații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log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înțelege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s-a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întâmplat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-o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putea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investiga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eventuale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probleme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sz="1600" i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68862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877605-92A1-6E12-6523-23E4691D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F5D6841-EF3D-CF61-10CA-A91EE1A0E0DB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80248394-19AE-15F1-48FE-90037921239F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2510371C-A735-85D6-080B-CA9F0575B395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3 – Unit Testing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DDE73D94-36A4-BF35-F1AB-13EF2CD50BC8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4F8010EC-F859-A359-F79E-20467D0D3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4553A5A-825C-DB1D-BD87-9D97DACC432E}"/>
              </a:ext>
            </a:extLst>
          </p:cNvPr>
          <p:cNvSpPr txBox="1"/>
          <p:nvPr/>
        </p:nvSpPr>
        <p:spPr>
          <a:xfrm>
            <a:off x="843199" y="910326"/>
            <a:ext cx="10346575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Instalați pytest folosind: pip install pytest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 directorul tests/ și adăugați fișierul test_embeddings_client.py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Cerințe: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Scrieți teste pentru metoda: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cosine_similarity()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Verificați cel puțin următoarele scenarii: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vectori identici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vectori diferiți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vectori ortogonali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Asigurați-vă că toate ramurile logice ale metodei sunt executate.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 rularea testelor utilizați: pytest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 afișarea code coverage instalați: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pip install pytest-cov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 rulați: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pytest --cov=. --cov-report=term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Metoda cosine_similarity() trebuie să fie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complet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testată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obțineți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100% code coverage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acesteia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55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0" y="-2"/>
            <a:ext cx="12192000" cy="621556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-27130" y="6329858"/>
            <a:ext cx="12219127" cy="3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283F0"/>
                </a:solidFill>
                <a:latin typeface="Arial"/>
                <a:ea typeface="Arial"/>
                <a:cs typeface="Arial"/>
                <a:sym typeface="Arial"/>
              </a:rPr>
              <a:t>office@digitalstack.ro		www.digitalstack.ro</a:t>
            </a:r>
            <a:endParaRPr sz="1400">
              <a:solidFill>
                <a:srgbClr val="028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96" y="1885673"/>
            <a:ext cx="9693408" cy="19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</Words>
  <Application>Microsoft Office PowerPoint</Application>
  <PresentationFormat>Widescreen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Jost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George Flurche</cp:lastModifiedBy>
  <cp:revision>70</cp:revision>
  <dcterms:modified xsi:type="dcterms:W3CDTF">2026-07-19T18:58:18Z</dcterms:modified>
</cp:coreProperties>
</file>