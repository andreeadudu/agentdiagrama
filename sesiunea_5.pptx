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7" r:id="rId2"/>
    <p:sldId id="258" r:id="rId3"/>
    <p:sldId id="281" r:id="rId4"/>
    <p:sldId id="282" r:id="rId5"/>
    <p:sldId id="298" r:id="rId6"/>
    <p:sldId id="294" r:id="rId7"/>
    <p:sldId id="299" r:id="rId8"/>
    <p:sldId id="300" r:id="rId9"/>
    <p:sldId id="301" r:id="rId10"/>
    <p:sldId id="302" r:id="rId11"/>
    <p:sldId id="265" r:id="rId12"/>
    <p:sldId id="295" r:id="rId13"/>
    <p:sldId id="296" r:id="rId14"/>
    <p:sldId id="303" r:id="rId15"/>
    <p:sldId id="304" r:id="rId16"/>
    <p:sldId id="267" r:id="rId17"/>
  </p:sldIdLst>
  <p:sldSz cx="12192000" cy="6858000"/>
  <p:notesSz cx="6858000" cy="9144000"/>
  <p:embeddedFontLst>
    <p:embeddedFont>
      <p:font typeface="Jost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17" autoAdjust="0"/>
    <p:restoredTop sz="94660"/>
  </p:normalViewPr>
  <p:slideViewPr>
    <p:cSldViewPr snapToGrid="0">
      <p:cViewPr varScale="1">
        <p:scale>
          <a:sx n="55" d="100"/>
          <a:sy n="55" d="100"/>
        </p:scale>
        <p:origin x="53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f689b10e57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2f689b10e5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F8F99EC4-E6A0-DE38-85FB-3A165A819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22BF464C-74CB-A84A-F54F-E27D034B1F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106FF71C-D794-879C-100A-22C6AC7E77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2526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2C752573-5B0F-4812-7B07-18B3B9224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5CAB259E-AD4C-BA87-E849-D9071DD249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A2FE72CF-CB9C-E904-9EA3-3E38D6417B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11494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E113E7AD-163D-FE68-AD41-D046DFA68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C9797FE4-BA86-B7F4-7BDD-5819C37147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32147D38-FFB4-A803-05A1-E25221E81B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77891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7CAE01D1-E924-04B1-7ECD-1AF60A40D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B089247D-CB4D-CD53-1CA3-F00503A782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83818909-8446-979A-46F6-B1ABEE2B31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71365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BE78C53F-EDBA-2E3D-4599-F61B79F12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564D759A-5D27-80EE-92C3-E32257387C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A1099787-8128-88FF-4AC8-256120553E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2036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D4EFDFD2-D4FC-A077-1F47-A7121F2F3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B33FAF6D-B810-5BE7-BA9F-F550A171E0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2464E64B-C34E-3681-ACDA-78671D5D97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786895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4DBD0FCC-BE11-292A-BEFB-01E416344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32B391C4-B177-77CD-D914-AC4477BFE0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92D0954F-B8E2-9FED-3912-A690C905ED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910945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A595A563-06D7-7980-FEC5-0C85490E2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D04719F2-7867-B444-A755-A2E7FC0ADF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C03E302C-C782-B962-D5AF-2362A0BA8F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89668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0287DD87-277A-721C-7258-47A2E3501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9:notes">
            <a:extLst>
              <a:ext uri="{FF2B5EF4-FFF2-40B4-BE49-F238E27FC236}">
                <a16:creationId xmlns:a16="http://schemas.microsoft.com/office/drawing/2014/main" id="{5323DE8A-9F54-5E27-B7EF-E5B40DF56D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9:notes">
            <a:extLst>
              <a:ext uri="{FF2B5EF4-FFF2-40B4-BE49-F238E27FC236}">
                <a16:creationId xmlns:a16="http://schemas.microsoft.com/office/drawing/2014/main" id="{A88C07F0-D380-051C-EB82-7924E9925E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80344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1C808485-0D7D-215D-397E-B7BEFB5A1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9:notes">
            <a:extLst>
              <a:ext uri="{FF2B5EF4-FFF2-40B4-BE49-F238E27FC236}">
                <a16:creationId xmlns:a16="http://schemas.microsoft.com/office/drawing/2014/main" id="{35057E5A-A2AD-CA8D-2783-844DF4FBB3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9:notes">
            <a:extLst>
              <a:ext uri="{FF2B5EF4-FFF2-40B4-BE49-F238E27FC236}">
                <a16:creationId xmlns:a16="http://schemas.microsoft.com/office/drawing/2014/main" id="{8B302779-DD05-1B9D-7C4A-D820B2E9D8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11574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7A427FB6-722F-60CC-686B-4EA8B5A72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9:notes">
            <a:extLst>
              <a:ext uri="{FF2B5EF4-FFF2-40B4-BE49-F238E27FC236}">
                <a16:creationId xmlns:a16="http://schemas.microsoft.com/office/drawing/2014/main" id="{EAE6FF18-9D47-EF07-6538-7046F22F33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9:notes">
            <a:extLst>
              <a:ext uri="{FF2B5EF4-FFF2-40B4-BE49-F238E27FC236}">
                <a16:creationId xmlns:a16="http://schemas.microsoft.com/office/drawing/2014/main" id="{9EEF855C-3BE0-E5E5-1D0D-A78FF341CE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43736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F9A83157-D1EF-1AB6-04E7-8DC7316AD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9:notes">
            <a:extLst>
              <a:ext uri="{FF2B5EF4-FFF2-40B4-BE49-F238E27FC236}">
                <a16:creationId xmlns:a16="http://schemas.microsoft.com/office/drawing/2014/main" id="{826C995C-99A2-95A2-4907-9C4E4F5390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9:notes">
            <a:extLst>
              <a:ext uri="{FF2B5EF4-FFF2-40B4-BE49-F238E27FC236}">
                <a16:creationId xmlns:a16="http://schemas.microsoft.com/office/drawing/2014/main" id="{F001A670-3625-95AB-C860-94D9C0825E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50646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0" y="-1"/>
            <a:ext cx="12192000" cy="25413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4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11573" y="260073"/>
            <a:ext cx="9693407" cy="1971087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0" y="3822506"/>
            <a:ext cx="12192000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5400" b="1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SESIUNEA 5</a:t>
            </a:r>
            <a:r>
              <a:rPr lang="en-US" sz="5400" b="1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: </a:t>
            </a:r>
            <a:endParaRPr lang="ro-RO" sz="5400" b="1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5400" b="1" dirty="0">
                <a:solidFill>
                  <a:srgbClr val="0283F0"/>
                </a:solidFill>
                <a:latin typeface="Jost"/>
                <a:ea typeface="Jost"/>
                <a:sym typeface="Jost"/>
              </a:rPr>
              <a:t>PROCESARE FIȘIERE &amp; EMBEDDINGS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0" y="-2"/>
            <a:ext cx="12192000" cy="6858001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27130" y="686280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4400" b="0" i="0" u="none" strike="noStrike" cap="none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AGENDĂ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1300570" y="1791432"/>
            <a:ext cx="9563700" cy="3000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00050" lvl="0" indent="-285750">
              <a:lnSpc>
                <a:spcPct val="150000"/>
              </a:lnSpc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Parsarea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fișierelor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JSON, CSV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PDF</a:t>
            </a:r>
          </a:p>
          <a:p>
            <a:pPr marL="400050" lvl="0" indent="-285750">
              <a:lnSpc>
                <a:spcPct val="150000"/>
              </a:lnSpc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Preprocesarea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textului</a:t>
            </a:r>
            <a:endParaRPr lang="en-US" sz="18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marL="400050" lvl="0" indent="-285750">
              <a:lnSpc>
                <a:spcPct val="150000"/>
              </a:lnSpc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Introducere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Embeddings</a:t>
            </a:r>
          </a:p>
          <a:p>
            <a:pPr marL="400050" lvl="0" indent="-285750">
              <a:lnSpc>
                <a:spcPct val="150000"/>
              </a:lnSpc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Similaritate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semantică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căutare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vectorială</a:t>
            </a:r>
            <a:endParaRPr lang="en-US" sz="18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marL="400050" lvl="0" indent="-285750">
              <a:lnSpc>
                <a:spcPct val="150000"/>
              </a:lnSpc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Chunking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strategiile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de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împărțire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a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documentelor</a:t>
            </a:r>
            <a:endParaRPr lang="en-US" sz="18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marL="400050" lvl="0" indent="-285750">
              <a:lnSpc>
                <a:spcPct val="150000"/>
              </a:lnSpc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Generarea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embeddings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pentru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documente</a:t>
            </a:r>
            <a:endParaRPr lang="en-US" sz="18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marL="400050" lvl="0" indent="-285750">
              <a:lnSpc>
                <a:spcPct val="150000"/>
              </a:lnSpc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Hands-on: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Crearea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unui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generator de embeddings</a:t>
            </a:r>
            <a:endParaRPr sz="18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15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AD638F30-FF7C-424B-8A69-81441AAB3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A6BEEBAE-4111-7D12-3532-AFB1447A750A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0AAFAAA9-3395-5C2E-1625-0EF2877F176D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Procesarea fișierelor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724AF567-3C41-3FB6-7E6D-41C98A7769F1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39016945-DB8F-F8A5-A30C-8DC6D28EB73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9;p21">
            <a:extLst>
              <a:ext uri="{FF2B5EF4-FFF2-40B4-BE49-F238E27FC236}">
                <a16:creationId xmlns:a16="http://schemas.microsoft.com/office/drawing/2014/main" id="{6191CF4A-5874-39A8-8D85-2C93C126763C}"/>
              </a:ext>
            </a:extLst>
          </p:cNvPr>
          <p:cNvSpPr txBox="1"/>
          <p:nvPr/>
        </p:nvSpPr>
        <p:spPr>
          <a:xfrm>
            <a:off x="731296" y="1006406"/>
            <a:ext cx="10986939" cy="7017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it-IT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Formate </a:t>
            </a:r>
            <a:r>
              <a:rPr lang="it-IT" sz="24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utilizate</a:t>
            </a:r>
            <a:r>
              <a:rPr lang="it-IT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24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frecvent</a:t>
            </a:r>
            <a:r>
              <a:rPr lang="it-IT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24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it-IT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24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aplicațiile</a:t>
            </a:r>
            <a:r>
              <a:rPr lang="it-IT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AI</a:t>
            </a:r>
            <a:endParaRPr lang="ro-RO" sz="24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endParaRPr lang="ro-RO" sz="24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JSON</a:t>
            </a:r>
            <a:endParaRPr lang="it-IT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Structurat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Cheie -</a:t>
            </a: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&gt; </a:t>
            </a:r>
            <a:r>
              <a:rPr lang="en-US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valoare</a:t>
            </a:r>
            <a:endParaRPr lang="ro-RO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CSV</a:t>
            </a:r>
            <a:endParaRPr lang="it-IT" sz="24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Date </a:t>
            </a: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tabelare</a:t>
            </a:r>
            <a:endParaRPr lang="it-IT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Separatoare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pentru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new </a:t>
            </a: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cell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&amp; new line</a:t>
            </a:r>
            <a:endParaRPr lang="ro-RO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PDF</a:t>
            </a:r>
            <a:endParaRPr lang="it-IT" sz="24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</a:t>
            </a: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ocumente nestructurate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Scopul nostru</a:t>
            </a: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:</a:t>
            </a:r>
            <a:r>
              <a:rPr lang="en-US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Transformarea</a:t>
            </a: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datelor</a:t>
            </a: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din </a:t>
            </a:r>
            <a:r>
              <a:rPr lang="en-US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fișiere</a:t>
            </a: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text care </a:t>
            </a:r>
            <a:r>
              <a:rPr lang="en-US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poate</a:t>
            </a: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fi </a:t>
            </a:r>
            <a:r>
              <a:rPr lang="en-US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procesat</a:t>
            </a: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de un LLM.</a:t>
            </a:r>
            <a:endParaRPr lang="it-IT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lang="ro-RO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lang="ro-RO" sz="24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sz="24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3380359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1FE0A430-F1E9-510D-7CBA-CF4F5852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F54B7E87-CB32-2583-F028-FC9C9D94E584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6A68A60A-67C9-4537-5FA0-032BC2E1FB7D}"/>
              </a:ext>
            </a:extLst>
          </p:cNvPr>
          <p:cNvSpPr txBox="1"/>
          <p:nvPr/>
        </p:nvSpPr>
        <p:spPr>
          <a:xfrm>
            <a:off x="-3498574" y="223554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File Import Cheat Sheet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9A81AAD8-E090-02A3-D42F-48CCDDF01AC4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440EED71-957B-7F62-CF8E-DA5588BF40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716F1FD-AEEB-0DFA-2DBD-CF95376A4C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7749" y="28590"/>
            <a:ext cx="6472433" cy="6472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110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96C57030-7551-5579-D352-0E67686EA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92CE704A-470A-80DD-4085-550D66BE0DA5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41AACFDC-2B0B-3C01-9D7B-98EA3AFD62A8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Text Preprocessing Cheat Sheet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09B21569-1686-9200-DB02-7ACF2EF5979F}"/>
              </a:ext>
            </a:extLst>
          </p:cNvPr>
          <p:cNvSpPr txBox="1"/>
          <p:nvPr/>
        </p:nvSpPr>
        <p:spPr>
          <a:xfrm>
            <a:off x="9456277" y="6026553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E095ADA5-9589-8719-EC64-E25F08C5C99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>
            <a:extLst>
              <a:ext uri="{FF2B5EF4-FFF2-40B4-BE49-F238E27FC236}">
                <a16:creationId xmlns:a16="http://schemas.microsoft.com/office/drawing/2014/main" id="{4A25F7CE-22FF-6D3F-154D-499BEE1BDC7C}"/>
              </a:ext>
            </a:extLst>
          </p:cNvPr>
          <p:cNvSpPr txBox="1"/>
          <p:nvPr/>
        </p:nvSpPr>
        <p:spPr>
          <a:xfrm>
            <a:off x="947677" y="912188"/>
            <a:ext cx="4605225" cy="4939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Operații frecvente</a:t>
            </a:r>
            <a:endParaRPr lang="en-US" b="1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Conversie la lower case</a:t>
            </a:r>
            <a:endParaRPr lang="en-US" b="1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&gt;&gt;&gt;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text.lower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()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Eliminare</a:t>
            </a:r>
            <a:r>
              <a:rPr lang="en-US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spa</a:t>
            </a:r>
            <a:r>
              <a:rPr lang="ro-RO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ții inutile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&gt;&gt;&gt; </a:t>
            </a: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text.strip()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Spargere în cuvinte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&gt;&gt;&gt;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text.split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()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Reconstruire</a:t>
            </a:r>
            <a:r>
              <a:rPr lang="en-US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text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&gt;&gt;&gt; “ “.join(words)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Înlocuire expresii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&gt;&gt;&gt;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text.replace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(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substring_to_replace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,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substring_to_replace_with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Dimensiune</a:t>
            </a:r>
            <a:r>
              <a:rPr lang="en-US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text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&gt;&gt;&gt;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len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(text)</a:t>
            </a:r>
          </a:p>
          <a:p>
            <a:pPr lvl="0">
              <a:lnSpc>
                <a:spcPct val="150000"/>
              </a:lnSpc>
            </a:pP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" name="Google Shape;159;p21">
            <a:extLst>
              <a:ext uri="{FF2B5EF4-FFF2-40B4-BE49-F238E27FC236}">
                <a16:creationId xmlns:a16="http://schemas.microsoft.com/office/drawing/2014/main" id="{56278253-9935-2E23-1F49-1636A67BAF4B}"/>
              </a:ext>
            </a:extLst>
          </p:cNvPr>
          <p:cNvSpPr txBox="1"/>
          <p:nvPr/>
        </p:nvSpPr>
        <p:spPr>
          <a:xfrm>
            <a:off x="5552902" y="863581"/>
            <a:ext cx="4605225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b="1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Scopul</a:t>
            </a:r>
            <a:r>
              <a:rPr lang="en-US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b="1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preproces</a:t>
            </a:r>
            <a:r>
              <a:rPr lang="ro-RO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ării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Raw Text -&gt; Cleaning -&gt; Chunking -&gt; Embeddings</a:t>
            </a:r>
          </a:p>
        </p:txBody>
      </p:sp>
    </p:spTree>
    <p:extLst>
      <p:ext uri="{BB962C8B-B14F-4D97-AF65-F5344CB8AC3E}">
        <p14:creationId xmlns:p14="http://schemas.microsoft.com/office/powerpoint/2010/main" val="4202755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BF3D2E28-7940-EB8D-5FFD-FD70258BA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60911333-8092-5D37-B53C-3E28D4BE486A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3639ACC7-A260-4ECF-4DF3-08481832C1FB}"/>
              </a:ext>
            </a:extLst>
          </p:cNvPr>
          <p:cNvSpPr txBox="1"/>
          <p:nvPr/>
        </p:nvSpPr>
        <p:spPr>
          <a:xfrm>
            <a:off x="0" y="9702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Embeddings – Intuiție</a:t>
            </a:r>
            <a:endParaRPr lang="en-US"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CBED0D31-6465-F68A-559E-AB815B287E2C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3F185A9D-3D1E-CF48-E530-076AA3330E3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83F5E4-7FAE-3784-EC50-BFA144A9CA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4500"/>
          <a:stretch>
            <a:fillRect/>
          </a:stretch>
        </p:blipFill>
        <p:spPr>
          <a:xfrm>
            <a:off x="1028701" y="840105"/>
            <a:ext cx="10287000" cy="517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66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4945B40A-6937-86EF-E1C0-E7EE57D4E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6C9A09F9-55EA-8AF2-B282-C51412E82958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E104A14A-60A6-64CA-E497-B6354EAB8FEC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Ce reprezintă un embedding?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C424A077-8FDB-DB0A-DBE4-66CDB5D283BB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141D0A56-ED9A-6815-2530-7BCD5B8D944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9;p21">
            <a:extLst>
              <a:ext uri="{FF2B5EF4-FFF2-40B4-BE49-F238E27FC236}">
                <a16:creationId xmlns:a16="http://schemas.microsoft.com/office/drawing/2014/main" id="{5502FB06-8E70-C346-11F1-F840CBBA66B4}"/>
              </a:ext>
            </a:extLst>
          </p:cNvPr>
          <p:cNvSpPr txBox="1"/>
          <p:nvPr/>
        </p:nvSpPr>
        <p:spPr>
          <a:xfrm>
            <a:off x="948466" y="1905526"/>
            <a:ext cx="10986939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În practică nu avem două dimensiuni, ci 384, 768, 1024, 1536, etc.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De exemplu</a:t>
            </a:r>
            <a:r>
              <a:rPr lang="en-US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: </a:t>
            </a:r>
            <a:br>
              <a:rPr lang="en-US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</a:br>
            <a:r>
              <a:rPr lang="en-US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Dog -&gt; [0.23, -0.88, 0.61, ...]</a:t>
            </a:r>
            <a:br>
              <a:rPr lang="en-US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</a:br>
            <a:r>
              <a:rPr lang="en-US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Cat -&gt; [0.20, -0.84, 0.57, ...]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Aceste</a:t>
            </a:r>
            <a:r>
              <a:rPr lang="en-US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reprezent</a:t>
            </a:r>
            <a:r>
              <a:rPr lang="ro-RO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ări sunt comparate folosind distanțe matematice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sz="18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ro-RO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TEXTE SIMILARE -</a:t>
            </a:r>
            <a:r>
              <a:rPr lang="en-US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&gt; VECTORI APROPIA</a:t>
            </a:r>
            <a:r>
              <a:rPr lang="ro-RO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ȚI</a:t>
            </a:r>
            <a:endParaRPr lang="en-US" sz="18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sz="18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293273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0EE96A05-EAA3-C494-EE56-1A1B82701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6986C819-E3AD-596F-DB61-C0453FC2D17A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CB95F088-5E13-063B-CACC-478C6FF548DB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De la cuvinte la documente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C8B65972-C97F-F774-FD34-D4008E4C880A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79433966-0039-60DC-2996-7D42E43A2B9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9;p21">
            <a:extLst>
              <a:ext uri="{FF2B5EF4-FFF2-40B4-BE49-F238E27FC236}">
                <a16:creationId xmlns:a16="http://schemas.microsoft.com/office/drawing/2014/main" id="{51310BDD-EE7D-11D1-1BB0-4CE81BE9C683}"/>
              </a:ext>
            </a:extLst>
          </p:cNvPr>
          <p:cNvSpPr txBox="1"/>
          <p:nvPr/>
        </p:nvSpPr>
        <p:spPr>
          <a:xfrm>
            <a:off x="948466" y="1905526"/>
            <a:ext cx="10986939" cy="2169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Nu comparăm doar cuvinte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Putem genera embeddings pentru</a:t>
            </a:r>
            <a:r>
              <a:rPr lang="en-US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: </a:t>
            </a:r>
            <a:r>
              <a:rPr lang="en-US" sz="18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cuvinte</a:t>
            </a:r>
            <a:r>
              <a:rPr lang="en-US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, </a:t>
            </a:r>
            <a:r>
              <a:rPr lang="en-US" sz="18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fraze</a:t>
            </a:r>
            <a:r>
              <a:rPr lang="en-US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, </a:t>
            </a:r>
            <a:r>
              <a:rPr lang="en-US" sz="18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paragrafe</a:t>
            </a:r>
            <a:r>
              <a:rPr lang="en-US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, </a:t>
            </a:r>
            <a:r>
              <a:rPr lang="en-US" sz="18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documente</a:t>
            </a:r>
            <a:endParaRPr lang="en-US" sz="18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Exemplu</a:t>
            </a:r>
            <a:r>
              <a:rPr lang="en-US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:</a:t>
            </a:r>
            <a:br>
              <a:rPr lang="en-US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</a:br>
            <a:r>
              <a:rPr lang="en-US" sz="18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Pentru</a:t>
            </a:r>
            <a:r>
              <a:rPr lang="en-US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ro-RO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întrebarea </a:t>
            </a:r>
            <a:r>
              <a:rPr lang="en-US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“How do I reset my password?” -&gt; Embedding</a:t>
            </a:r>
            <a:br>
              <a:rPr lang="en-US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</a:br>
            <a:r>
              <a:rPr lang="ro-RO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Și îl comparăm cu embeddings generate pentru documentele noastre</a:t>
            </a:r>
            <a:endParaRPr lang="en-US" sz="18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36339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06B06238-1318-AA1D-917C-DE8591A9F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824E1A5F-36DE-C44D-74C1-6EF14588B469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C9DD87CE-F6B8-9FD1-5887-FF68FDE83A7D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Chunking și Retrieval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4BCABAFC-8FA9-868D-54DD-D01880502236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FA61BE09-D3D7-9C85-64E7-2E3695D6CE7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9;p21">
            <a:extLst>
              <a:ext uri="{FF2B5EF4-FFF2-40B4-BE49-F238E27FC236}">
                <a16:creationId xmlns:a16="http://schemas.microsoft.com/office/drawing/2014/main" id="{BDFF2F81-98C2-40DB-9077-F4AB57806B4A}"/>
              </a:ext>
            </a:extLst>
          </p:cNvPr>
          <p:cNvSpPr txBox="1"/>
          <p:nvPr/>
        </p:nvSpPr>
        <p:spPr>
          <a:xfrm>
            <a:off x="602530" y="774486"/>
            <a:ext cx="10986939" cy="5586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endParaRPr lang="ro-RO" sz="24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it-IT" sz="24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Înainte</a:t>
            </a:r>
            <a:r>
              <a:rPr lang="it-IT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de </a:t>
            </a:r>
            <a:r>
              <a:rPr lang="it-IT" sz="24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generarea</a:t>
            </a:r>
            <a:r>
              <a:rPr lang="it-IT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24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embeddings</a:t>
            </a:r>
            <a:r>
              <a:rPr lang="it-IT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, </a:t>
            </a:r>
            <a:r>
              <a:rPr lang="it-IT" sz="24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documentele</a:t>
            </a:r>
            <a:r>
              <a:rPr lang="it-IT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24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sunt</a:t>
            </a:r>
            <a:r>
              <a:rPr lang="it-IT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24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împărțite</a:t>
            </a:r>
            <a:r>
              <a:rPr lang="it-IT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24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it-IT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24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bucăți</a:t>
            </a:r>
            <a:r>
              <a:rPr lang="it-IT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24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numite</a:t>
            </a:r>
            <a:r>
              <a:rPr lang="it-IT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24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chunks</a:t>
            </a:r>
            <a:r>
              <a:rPr lang="it-IT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.</a:t>
            </a:r>
            <a:endParaRPr lang="ro-RO" sz="24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endParaRPr lang="ro-RO" sz="24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Chunk mic</a:t>
            </a:r>
            <a:endParaRPr lang="it-IT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Precizie mare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Mai multe comparație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Cost mai mare</a:t>
            </a:r>
          </a:p>
          <a:p>
            <a:pPr lvl="0">
              <a:lnSpc>
                <a:spcPct val="150000"/>
              </a:lnSpc>
            </a:pP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Chunk mare</a:t>
            </a:r>
            <a:endParaRPr lang="it-IT" sz="24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Mai puține comparații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Mai puțin</a:t>
            </a:r>
            <a:endParaRPr lang="it-IT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Poate conține zgomot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Dimensiunea chunk-urilor influențează direct calitatea rezultatelor.</a:t>
            </a:r>
          </a:p>
        </p:txBody>
      </p:sp>
    </p:spTree>
    <p:extLst>
      <p:ext uri="{BB962C8B-B14F-4D97-AF65-F5344CB8AC3E}">
        <p14:creationId xmlns:p14="http://schemas.microsoft.com/office/powerpoint/2010/main" val="1939255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677C2ED4-9141-BF58-781E-46F42E056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B25309F5-E390-B146-FE1B-9B4D39639855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E0D0E0F3-92FD-EF96-63B4-CAB4798FA735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Cum funcționează Căutarea semantică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BF3A63AF-75D0-B64C-E27E-89AE24994B2D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BB37FD4E-C1D2-9B00-F17A-76C8509118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64A6636-7245-C6DF-2C26-3EAD7AECBC85}"/>
              </a:ext>
            </a:extLst>
          </p:cNvPr>
          <p:cNvSpPr/>
          <p:nvPr/>
        </p:nvSpPr>
        <p:spPr>
          <a:xfrm>
            <a:off x="1360170" y="1485900"/>
            <a:ext cx="1920240" cy="115443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800" b="1" dirty="0"/>
              <a:t>Question</a:t>
            </a:r>
            <a:endParaRPr lang="en-US" sz="1800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10F77E2-565F-18BD-ED96-7C415C7F0F7C}"/>
              </a:ext>
            </a:extLst>
          </p:cNvPr>
          <p:cNvSpPr/>
          <p:nvPr/>
        </p:nvSpPr>
        <p:spPr>
          <a:xfrm>
            <a:off x="4175760" y="1485900"/>
            <a:ext cx="1920240" cy="115443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800" b="1" dirty="0"/>
              <a:t>Embedding</a:t>
            </a:r>
            <a:endParaRPr lang="en-US" sz="1800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9A95E8C-E410-CC1B-7C5E-D60C97D71DAE}"/>
              </a:ext>
            </a:extLst>
          </p:cNvPr>
          <p:cNvSpPr/>
          <p:nvPr/>
        </p:nvSpPr>
        <p:spPr>
          <a:xfrm>
            <a:off x="6991350" y="2268300"/>
            <a:ext cx="4312920" cy="20574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800" b="1" dirty="0"/>
              <a:t>Compare with</a:t>
            </a:r>
            <a:r>
              <a:rPr lang="en-US" sz="1800" b="1" dirty="0"/>
              <a:t>:</a:t>
            </a:r>
          </a:p>
          <a:p>
            <a:pPr algn="ctr"/>
            <a:br>
              <a:rPr lang="en-US" sz="1800" b="1" dirty="0"/>
            </a:br>
            <a:r>
              <a:rPr lang="en-US" sz="1800" b="1" dirty="0"/>
              <a:t>Chunk 1 Embedding</a:t>
            </a:r>
          </a:p>
          <a:p>
            <a:pPr algn="ctr"/>
            <a:r>
              <a:rPr lang="en-US" sz="1800" b="1" dirty="0"/>
              <a:t>Chunk 2 Embedding</a:t>
            </a:r>
          </a:p>
          <a:p>
            <a:pPr algn="ctr"/>
            <a:r>
              <a:rPr lang="en-US" sz="1800" b="1" dirty="0"/>
              <a:t>Chunk 3 Embedding</a:t>
            </a:r>
          </a:p>
          <a:p>
            <a:pPr algn="ctr"/>
            <a:r>
              <a:rPr lang="en-US" sz="1800" b="1" dirty="0"/>
              <a:t>Chunk 4 Embedding</a:t>
            </a:r>
          </a:p>
          <a:p>
            <a:pPr algn="ctr"/>
            <a:endParaRPr lang="en-US" sz="1800" b="1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FCFBDC0-C6DD-803F-8D57-635844B37630}"/>
              </a:ext>
            </a:extLst>
          </p:cNvPr>
          <p:cNvSpPr/>
          <p:nvPr/>
        </p:nvSpPr>
        <p:spPr>
          <a:xfrm>
            <a:off x="4175760" y="4005105"/>
            <a:ext cx="1920240" cy="115443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/>
              <a:t>Most Similar Chunks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1C93A7B-32A8-7B29-8C98-8EFD8B9B1BD5}"/>
              </a:ext>
            </a:extLst>
          </p:cNvPr>
          <p:cNvSpPr/>
          <p:nvPr/>
        </p:nvSpPr>
        <p:spPr>
          <a:xfrm>
            <a:off x="1360170" y="4005105"/>
            <a:ext cx="1920240" cy="115443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/>
              <a:t>Context For the LLM</a:t>
            </a:r>
          </a:p>
        </p:txBody>
      </p:sp>
      <p:sp>
        <p:nvSpPr>
          <p:cNvPr id="8" name="Google Shape;159;p21">
            <a:extLst>
              <a:ext uri="{FF2B5EF4-FFF2-40B4-BE49-F238E27FC236}">
                <a16:creationId xmlns:a16="http://schemas.microsoft.com/office/drawing/2014/main" id="{B6E28177-2E83-A593-948C-B6B75B396305}"/>
              </a:ext>
            </a:extLst>
          </p:cNvPr>
          <p:cNvSpPr txBox="1"/>
          <p:nvPr/>
        </p:nvSpPr>
        <p:spPr>
          <a:xfrm>
            <a:off x="972125" y="5578389"/>
            <a:ext cx="10986939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În aplicațiile moderne, nu căutăm după cuvinte identice, ci după semnificație.</a:t>
            </a:r>
            <a:endParaRPr lang="en-US" sz="18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515050-4F30-DFB9-7D94-3392AFF3BCF0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3280410" y="2063115"/>
            <a:ext cx="8953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39E84B3-8285-ABBA-D427-7F5EAC8E17AB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6096000" y="2063115"/>
            <a:ext cx="895350" cy="12338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5EBFF27-87F1-E1A2-5759-671E12D7167C}"/>
              </a:ext>
            </a:extLst>
          </p:cNvPr>
          <p:cNvCxnSpPr>
            <a:cxnSpLocks/>
            <a:stCxn id="5" idx="1"/>
            <a:endCxn id="6" idx="3"/>
          </p:cNvCxnSpPr>
          <p:nvPr/>
        </p:nvCxnSpPr>
        <p:spPr>
          <a:xfrm flipH="1">
            <a:off x="6096000" y="3297000"/>
            <a:ext cx="895350" cy="12853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05F4C60-36E5-3F73-875B-CA31B11BED10}"/>
              </a:ext>
            </a:extLst>
          </p:cNvPr>
          <p:cNvCxnSpPr>
            <a:cxnSpLocks/>
            <a:stCxn id="6" idx="1"/>
            <a:endCxn id="7" idx="3"/>
          </p:cNvCxnSpPr>
          <p:nvPr/>
        </p:nvCxnSpPr>
        <p:spPr>
          <a:xfrm flipH="1">
            <a:off x="3280410" y="4582320"/>
            <a:ext cx="8953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4687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/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2"/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Exercițiul</a:t>
            </a:r>
            <a:r>
              <a:rPr lang="en-US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1 – Knowledge Base Structure</a:t>
            </a:r>
            <a:endParaRPr b="1" dirty="0">
              <a:solidFill>
                <a:schemeClr val="lt1"/>
              </a:solidFill>
            </a:endParaRPr>
          </a:p>
        </p:txBody>
      </p:sp>
      <p:sp>
        <p:nvSpPr>
          <p:cNvPr id="167" name="Google Shape;167;p22"/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2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/>
          <p:cNvSpPr txBox="1"/>
          <p:nvPr/>
        </p:nvSpPr>
        <p:spPr>
          <a:xfrm>
            <a:off x="922713" y="1080480"/>
            <a:ext cx="10346575" cy="5909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 cadrul acestui exercițiu veți crea structura de bază a cunoștințelor utilizate de agent. Scopul este separarea informațiilor în funcție de rolul lor și organizarea acestora într-un format care poate fi extins pe parcursul proiectului.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La finalul exercițiului trebuie să existe structura din imagine: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Directorul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prompts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conține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instrucțiuni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care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definesc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b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</a:b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personalitatea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comportamentul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agentului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  <a:endParaRPr lang="ro-RO" sz="18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Toate documentele din directorul prompts vor fi încărcate </a:t>
            </a:r>
            <a:b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</a:br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automat la fiecare conversație.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Directorul facts conține informații permanente pe care </a:t>
            </a:r>
            <a:b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</a:br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agentul trebuie să le cunoască.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Directorul procedures conține instrucțiuni operaționale </a:t>
            </a:r>
            <a:b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</a:br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care explică modul de rezolvare a anumitor sarcini.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Atât pentru facts, cât și pentru procedures, utilizați un registru </a:t>
            </a:r>
            <a:b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</a:br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care conține o listă de documente. Fiecare document trebuie </a:t>
            </a:r>
            <a:b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</a:br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să conțină următoarele proprietăți:</a:t>
            </a:r>
            <a:b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</a:br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- id – identificator unic; numele documentului fără extensie;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 - name – titlul afișat utilizatorului;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 - description – descriere scurtă a documentului;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 - always_load – indică dacă documentul trebuie încărcat </a:t>
            </a:r>
            <a:b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</a:br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                      automat la fiecare request.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sz="18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id="3" name="Picture 2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1A5D0DB6-EC09-84F8-9063-EEF1CFCAC2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734" t="15214" r="15113" b="14530"/>
          <a:stretch>
            <a:fillRect/>
          </a:stretch>
        </p:blipFill>
        <p:spPr>
          <a:xfrm>
            <a:off x="7625273" y="2461897"/>
            <a:ext cx="3644014" cy="40115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5637CF2-6CB4-3935-053B-979E4AC06A13}"/>
              </a:ext>
            </a:extLst>
          </p:cNvPr>
          <p:cNvSpPr txBox="1"/>
          <p:nvPr/>
        </p:nvSpPr>
        <p:spPr>
          <a:xfrm>
            <a:off x="1731818" y="842446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Ai conversation contents -&gt; assembly </a:t>
            </a:r>
            <a:r>
              <a:rPr lang="en-US" dirty="0" err="1"/>
              <a:t>stergem</a:t>
            </a:r>
            <a:r>
              <a:rPr lang="en-US" dirty="0"/>
              <a:t> string </a:t>
            </a:r>
            <a:r>
              <a:rPr lang="en-US" dirty="0" err="1"/>
              <a:t>cmplet</a:t>
            </a:r>
            <a:r>
              <a:rPr lang="en-US" dirty="0"/>
              <a:t> </a:t>
            </a:r>
            <a:r>
              <a:rPr lang="en-US" dirty="0" err="1"/>
              <a:t>citind</a:t>
            </a:r>
            <a:r>
              <a:rPr lang="en-US" dirty="0"/>
              <a:t>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337598D8-1686-7B4F-60E6-0D234532B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>
            <a:extLst>
              <a:ext uri="{FF2B5EF4-FFF2-40B4-BE49-F238E27FC236}">
                <a16:creationId xmlns:a16="http://schemas.microsoft.com/office/drawing/2014/main" id="{677C7598-998A-2B36-2DF7-DAABBABAEE20}"/>
              </a:ext>
            </a:extLst>
          </p:cNvPr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>
            <a:extLst>
              <a:ext uri="{FF2B5EF4-FFF2-40B4-BE49-F238E27FC236}">
                <a16:creationId xmlns:a16="http://schemas.microsoft.com/office/drawing/2014/main" id="{C0A3ECCE-366E-B47C-C7F7-744B1741A9E3}"/>
              </a:ext>
            </a:extLst>
          </p:cNvPr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2">
            <a:extLst>
              <a:ext uri="{FF2B5EF4-FFF2-40B4-BE49-F238E27FC236}">
                <a16:creationId xmlns:a16="http://schemas.microsoft.com/office/drawing/2014/main" id="{CAF392B4-029A-B1EF-FEFB-CDA865FF8B98}"/>
              </a:ext>
            </a:extLst>
          </p:cNvPr>
          <p:cNvSpPr txBox="1"/>
          <p:nvPr/>
        </p:nvSpPr>
        <p:spPr>
          <a:xfrm>
            <a:off x="0" y="327188"/>
            <a:ext cx="12192000" cy="129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GB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Exercițiul</a:t>
            </a:r>
            <a:r>
              <a:rPr lang="en-GB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ro-RO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2</a:t>
            </a:r>
            <a:r>
              <a:rPr lang="en-GB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–</a:t>
            </a:r>
            <a:r>
              <a:rPr lang="ro-RO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Construirea System Prompt-ului</a:t>
            </a:r>
          </a:p>
          <a:p>
            <a:pPr lvl="0" algn="ctr"/>
            <a:endParaRPr lang="ro-RO" sz="3200" b="1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 algn="ctr"/>
            <a:endParaRPr b="1" dirty="0">
              <a:solidFill>
                <a:schemeClr val="lt1"/>
              </a:solidFill>
            </a:endParaRPr>
          </a:p>
        </p:txBody>
      </p:sp>
      <p:sp>
        <p:nvSpPr>
          <p:cNvPr id="167" name="Google Shape;167;p22">
            <a:extLst>
              <a:ext uri="{FF2B5EF4-FFF2-40B4-BE49-F238E27FC236}">
                <a16:creationId xmlns:a16="http://schemas.microsoft.com/office/drawing/2014/main" id="{6844D36D-A2D1-BB46-7888-483E81D099D5}"/>
              </a:ext>
            </a:extLst>
          </p:cNvPr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2" descr="Logo&#10;&#10;Description automatically generated">
            <a:extLst>
              <a:ext uri="{FF2B5EF4-FFF2-40B4-BE49-F238E27FC236}">
                <a16:creationId xmlns:a16="http://schemas.microsoft.com/office/drawing/2014/main" id="{1363FED4-74A7-F879-9330-F2787E999F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>
            <a:extLst>
              <a:ext uri="{FF2B5EF4-FFF2-40B4-BE49-F238E27FC236}">
                <a16:creationId xmlns:a16="http://schemas.microsoft.com/office/drawing/2014/main" id="{D41B59E5-24E0-863F-B94F-AC06D1CCB213}"/>
              </a:ext>
            </a:extLst>
          </p:cNvPr>
          <p:cNvSpPr txBox="1"/>
          <p:nvPr/>
        </p:nvSpPr>
        <p:spPr>
          <a:xfrm>
            <a:off x="922712" y="1151460"/>
            <a:ext cx="10346575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Accesați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fișierul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conversation_context.py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completați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funcția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assemble_system_prompt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()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astfel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încât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aceasta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construiască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System Prompt-ul final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prin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concatenarea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informațiilor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din Knowledge Base.</a:t>
            </a:r>
          </a:p>
          <a:p>
            <a:pPr lvl="0"/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Cerințe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: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Încărcați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toate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documentele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din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directorul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prompts.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Încărcați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toate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documentele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din facts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marcate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cu "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always_load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": true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Încărcați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toate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documentele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din procedures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marcate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cu "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always_load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": true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Pentru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fiecare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document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inclus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,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utilizați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proprietatea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name ca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titlu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al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secțiunii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Concatenați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toate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secțiunile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într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-un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singur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System Prompt.</a:t>
            </a:r>
          </a:p>
          <a:p>
            <a:pPr lvl="0"/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Structura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finală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a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promptului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trebuie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fie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similară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cu:</a:t>
            </a:r>
          </a:p>
          <a:p>
            <a:pPr lvl="0"/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# Agent Identity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...</a:t>
            </a:r>
          </a:p>
          <a:p>
            <a:pPr lvl="0"/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# Company Facts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...</a:t>
            </a:r>
          </a:p>
          <a:p>
            <a:pPr lvl="0"/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# Support Procedure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...</a:t>
            </a:r>
          </a:p>
          <a:p>
            <a:pPr lvl="0"/>
            <a:endParaRPr sz="1600" i="1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688623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29877605-92A1-6E12-6523-23E4691DB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>
            <a:extLst>
              <a:ext uri="{FF2B5EF4-FFF2-40B4-BE49-F238E27FC236}">
                <a16:creationId xmlns:a16="http://schemas.microsoft.com/office/drawing/2014/main" id="{8F5D6841-EF3D-CF61-10CA-A91EE1A0E0DB}"/>
              </a:ext>
            </a:extLst>
          </p:cNvPr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>
            <a:extLst>
              <a:ext uri="{FF2B5EF4-FFF2-40B4-BE49-F238E27FC236}">
                <a16:creationId xmlns:a16="http://schemas.microsoft.com/office/drawing/2014/main" id="{80248394-19AE-15F1-48FE-90037921239F}"/>
              </a:ext>
            </a:extLst>
          </p:cNvPr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2">
            <a:extLst>
              <a:ext uri="{FF2B5EF4-FFF2-40B4-BE49-F238E27FC236}">
                <a16:creationId xmlns:a16="http://schemas.microsoft.com/office/drawing/2014/main" id="{2510371C-A735-85D6-080B-CA9F0575B395}"/>
              </a:ext>
            </a:extLst>
          </p:cNvPr>
          <p:cNvSpPr txBox="1"/>
          <p:nvPr/>
        </p:nvSpPr>
        <p:spPr>
          <a:xfrm>
            <a:off x="-1" y="169613"/>
            <a:ext cx="12192000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it-IT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Exercițiul</a:t>
            </a:r>
            <a:r>
              <a:rPr lang="it-IT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3 – Chunking </a:t>
            </a:r>
            <a:r>
              <a:rPr lang="it-IT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it-IT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pregătirea</a:t>
            </a:r>
            <a:r>
              <a:rPr lang="it-IT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documentelor</a:t>
            </a:r>
            <a:r>
              <a:rPr lang="it-IT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pentru</a:t>
            </a:r>
            <a:r>
              <a:rPr lang="it-IT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Embeddings</a:t>
            </a:r>
            <a:endParaRPr b="1" dirty="0">
              <a:solidFill>
                <a:schemeClr val="lt1"/>
              </a:solidFill>
            </a:endParaRPr>
          </a:p>
        </p:txBody>
      </p:sp>
      <p:sp>
        <p:nvSpPr>
          <p:cNvPr id="167" name="Google Shape;167;p22">
            <a:extLst>
              <a:ext uri="{FF2B5EF4-FFF2-40B4-BE49-F238E27FC236}">
                <a16:creationId xmlns:a16="http://schemas.microsoft.com/office/drawing/2014/main" id="{DDE73D94-36A4-BF35-F1AB-13EF2CD50BC8}"/>
              </a:ext>
            </a:extLst>
          </p:cNvPr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2" descr="Logo&#10;&#10;Description automatically generated">
            <a:extLst>
              <a:ext uri="{FF2B5EF4-FFF2-40B4-BE49-F238E27FC236}">
                <a16:creationId xmlns:a16="http://schemas.microsoft.com/office/drawing/2014/main" id="{4F8010EC-F859-A359-F79E-20467D0D3C1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>
            <a:extLst>
              <a:ext uri="{FF2B5EF4-FFF2-40B4-BE49-F238E27FC236}">
                <a16:creationId xmlns:a16="http://schemas.microsoft.com/office/drawing/2014/main" id="{74553A5A-825C-DB1D-BD87-9D97DACC432E}"/>
              </a:ext>
            </a:extLst>
          </p:cNvPr>
          <p:cNvSpPr txBox="1"/>
          <p:nvPr/>
        </p:nvSpPr>
        <p:spPr>
          <a:xfrm>
            <a:off x="922712" y="1021652"/>
            <a:ext cx="10346575" cy="5755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endParaRPr lang="ro-RO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Creați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un nou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modul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document_chunker.py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adăugați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-l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rădăcina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proiectului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Cerințe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: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Implementați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o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funcție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fără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argumente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care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încarcă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procesează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toate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documentele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marcate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cu "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always_load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": false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Funcția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trebuie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citească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automat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documentele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descrise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registry-urile din Knowledge Base.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Ignorați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documentele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marcate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cu "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always_load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": true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Împărțiți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fiecare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document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chunk-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uri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de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dimensiune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fixă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Dimensiunea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chunk-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ului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trebuie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configurată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printr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-o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constantă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config.py.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Păstrați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ordinea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originală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a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textului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Funcția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trebuie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returneze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o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listă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de chunk-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uri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următorul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format: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[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{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    "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document_id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": "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support_procedure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",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    "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chunk_index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": 0,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    "content": "..."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},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{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    "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document_id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": "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support_procedure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",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    "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chunk_index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": 1,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    "content": "..."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}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]</a:t>
            </a:r>
          </a:p>
        </p:txBody>
      </p:sp>
    </p:spTree>
    <p:extLst>
      <p:ext uri="{BB962C8B-B14F-4D97-AF65-F5344CB8AC3E}">
        <p14:creationId xmlns:p14="http://schemas.microsoft.com/office/powerpoint/2010/main" val="316355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B225883D-DADE-2AB4-626C-A8C609FAA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>
            <a:extLst>
              <a:ext uri="{FF2B5EF4-FFF2-40B4-BE49-F238E27FC236}">
                <a16:creationId xmlns:a16="http://schemas.microsoft.com/office/drawing/2014/main" id="{FC0435B1-C3D3-054A-D677-9D440399BAB5}"/>
              </a:ext>
            </a:extLst>
          </p:cNvPr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>
            <a:extLst>
              <a:ext uri="{FF2B5EF4-FFF2-40B4-BE49-F238E27FC236}">
                <a16:creationId xmlns:a16="http://schemas.microsoft.com/office/drawing/2014/main" id="{29148DAC-168E-65FE-1B0E-A5C8872A01B2}"/>
              </a:ext>
            </a:extLst>
          </p:cNvPr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2">
            <a:extLst>
              <a:ext uri="{FF2B5EF4-FFF2-40B4-BE49-F238E27FC236}">
                <a16:creationId xmlns:a16="http://schemas.microsoft.com/office/drawing/2014/main" id="{9CAB63AF-E48B-CA5C-BE5D-C6B10431497A}"/>
              </a:ext>
            </a:extLst>
          </p:cNvPr>
          <p:cNvSpPr txBox="1"/>
          <p:nvPr/>
        </p:nvSpPr>
        <p:spPr>
          <a:xfrm>
            <a:off x="0" y="327188"/>
            <a:ext cx="12192000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it-IT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Exercițiul</a:t>
            </a:r>
            <a:r>
              <a:rPr lang="it-IT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4 – </a:t>
            </a:r>
            <a:r>
              <a:rPr lang="it-IT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Generarea</a:t>
            </a:r>
            <a:r>
              <a:rPr lang="it-IT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it-IT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salvarea</a:t>
            </a:r>
            <a:r>
              <a:rPr lang="it-IT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Embeddings</a:t>
            </a:r>
            <a:endParaRPr lang="pt-BR" sz="3200" b="1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 algn="ctr"/>
            <a:endParaRPr lang="pt-BR" b="1" dirty="0">
              <a:solidFill>
                <a:schemeClr val="lt1"/>
              </a:solidFill>
            </a:endParaRPr>
          </a:p>
        </p:txBody>
      </p:sp>
      <p:sp>
        <p:nvSpPr>
          <p:cNvPr id="167" name="Google Shape;167;p22">
            <a:extLst>
              <a:ext uri="{FF2B5EF4-FFF2-40B4-BE49-F238E27FC236}">
                <a16:creationId xmlns:a16="http://schemas.microsoft.com/office/drawing/2014/main" id="{9DC0BC5A-0252-EC61-684A-96B8DE439937}"/>
              </a:ext>
            </a:extLst>
          </p:cNvPr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2" descr="Logo&#10;&#10;Description automatically generated">
            <a:extLst>
              <a:ext uri="{FF2B5EF4-FFF2-40B4-BE49-F238E27FC236}">
                <a16:creationId xmlns:a16="http://schemas.microsoft.com/office/drawing/2014/main" id="{5E9FCDD5-7855-053B-C52B-4C1FA9175FB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>
            <a:extLst>
              <a:ext uri="{FF2B5EF4-FFF2-40B4-BE49-F238E27FC236}">
                <a16:creationId xmlns:a16="http://schemas.microsoft.com/office/drawing/2014/main" id="{A7893273-302D-613F-FEB7-EA153F1BCA19}"/>
              </a:ext>
            </a:extLst>
          </p:cNvPr>
          <p:cNvSpPr txBox="1"/>
          <p:nvPr/>
        </p:nvSpPr>
        <p:spPr>
          <a:xfrm>
            <a:off x="922712" y="1151460"/>
            <a:ext cx="10346575" cy="501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Creați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un nou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modul</a:t>
            </a:r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embedding_generator.py</a:t>
            </a:r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adăugați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-l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rădăcina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proiectului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Cerințe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: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Utilizați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modelul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de embeddings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furnizat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laborator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Încărcați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toate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chunk-urile generate la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exercițiul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anterior.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Generați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un embedding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pentru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fiecare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chunk.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Salvați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rezultatul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într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-un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fișier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JSON.</a:t>
            </a:r>
          </a:p>
          <a:p>
            <a:pPr lvl="0"/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Formatul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final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trebuie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fie:</a:t>
            </a:r>
          </a:p>
          <a:p>
            <a:pPr lvl="0"/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[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{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    "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document_id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": "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support_procedure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",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    "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chunk_index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": 0,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    "content": "...",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    "embedding": [0.12, -0.44, ...]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}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]</a:t>
            </a:r>
          </a:p>
          <a:p>
            <a:pPr lvl="0"/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Hint:</a:t>
            </a:r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La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pornirea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aplicației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nu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ar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trebui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regenerăm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embeddings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dacă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fișierul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există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deja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5994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BA5B043A-1797-D93E-FE12-160AAAD67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>
            <a:extLst>
              <a:ext uri="{FF2B5EF4-FFF2-40B4-BE49-F238E27FC236}">
                <a16:creationId xmlns:a16="http://schemas.microsoft.com/office/drawing/2014/main" id="{86921921-803C-762B-B94B-7A3578AC28FE}"/>
              </a:ext>
            </a:extLst>
          </p:cNvPr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>
            <a:extLst>
              <a:ext uri="{FF2B5EF4-FFF2-40B4-BE49-F238E27FC236}">
                <a16:creationId xmlns:a16="http://schemas.microsoft.com/office/drawing/2014/main" id="{E140C23B-3B9F-91A6-6C4C-425A5DC2E765}"/>
              </a:ext>
            </a:extLst>
          </p:cNvPr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2">
            <a:extLst>
              <a:ext uri="{FF2B5EF4-FFF2-40B4-BE49-F238E27FC236}">
                <a16:creationId xmlns:a16="http://schemas.microsoft.com/office/drawing/2014/main" id="{9F5148A1-7D76-D5D0-E84C-8A5B9C36FB87}"/>
              </a:ext>
            </a:extLst>
          </p:cNvPr>
          <p:cNvSpPr txBox="1"/>
          <p:nvPr/>
        </p:nvSpPr>
        <p:spPr>
          <a:xfrm>
            <a:off x="0" y="327188"/>
            <a:ext cx="121920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it-IT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Exercițiul</a:t>
            </a:r>
            <a:r>
              <a:rPr lang="it-IT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5 – Semantic </a:t>
            </a:r>
            <a:r>
              <a:rPr lang="it-IT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Search</a:t>
            </a:r>
            <a:endParaRPr lang="pt-BR" b="1" dirty="0">
              <a:solidFill>
                <a:schemeClr val="lt1"/>
              </a:solidFill>
            </a:endParaRPr>
          </a:p>
        </p:txBody>
      </p:sp>
      <p:sp>
        <p:nvSpPr>
          <p:cNvPr id="167" name="Google Shape;167;p22">
            <a:extLst>
              <a:ext uri="{FF2B5EF4-FFF2-40B4-BE49-F238E27FC236}">
                <a16:creationId xmlns:a16="http://schemas.microsoft.com/office/drawing/2014/main" id="{233BF222-EEFB-68B6-A783-6AFA014058BE}"/>
              </a:ext>
            </a:extLst>
          </p:cNvPr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2" descr="Logo&#10;&#10;Description automatically generated">
            <a:extLst>
              <a:ext uri="{FF2B5EF4-FFF2-40B4-BE49-F238E27FC236}">
                <a16:creationId xmlns:a16="http://schemas.microsoft.com/office/drawing/2014/main" id="{DE2FC287-500F-B2A3-0EE4-8C0A805DB1D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>
            <a:extLst>
              <a:ext uri="{FF2B5EF4-FFF2-40B4-BE49-F238E27FC236}">
                <a16:creationId xmlns:a16="http://schemas.microsoft.com/office/drawing/2014/main" id="{ACFFB70F-71FE-5CFF-8E53-D2831E93B37C}"/>
              </a:ext>
            </a:extLst>
          </p:cNvPr>
          <p:cNvSpPr txBox="1"/>
          <p:nvPr/>
        </p:nvSpPr>
        <p:spPr>
          <a:xfrm>
            <a:off x="793758" y="1061361"/>
            <a:ext cx="10346575" cy="5755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Creați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o nouă funcție clasei EmbeddingsClient– semantic_search 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Cerințe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: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Încărcați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toate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chunk-urile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embeddings-urile generate la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exercițiul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anterior</a:t>
            </a:r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(calea fișierului este cunoscută și setată în config)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Generați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embedding-ul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întrebării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utilizatorului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folosind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EmbeddingsClient</a:t>
            </a:r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.get_embedding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Calculați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scorul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de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similaritate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dintre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întrebare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fiecare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chunk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folosind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cosine_similarity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()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Ordonați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rezultatele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descrescător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după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scor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Selectați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cele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mai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relevante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N chunk-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uri</a:t>
            </a:r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care au un prag minim de similarity ales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Returnați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conținutul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acestora</a:t>
            </a:r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Formatul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rezultatului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:</a:t>
            </a:r>
          </a:p>
          <a:p>
            <a:pPr lvl="0"/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[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{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    "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document_id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": "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support_procedure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",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    "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chunk_index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": 3,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    "similarity": 0.94,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    "content": "..."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}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]</a:t>
            </a:r>
            <a:endParaRPr lang="ro-RO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endParaRPr lang="ro-RO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Bonus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: integra</a:t>
            </a:r>
            <a:r>
              <a:rPr lang="ro-RO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ți funcția ca pe un mecanism de filtrare și completare pentru system prompt.</a:t>
            </a:r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1733470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4"/>
          <p:cNvSpPr/>
          <p:nvPr/>
        </p:nvSpPr>
        <p:spPr>
          <a:xfrm>
            <a:off x="0" y="-2"/>
            <a:ext cx="12192000" cy="621556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4"/>
          <p:cNvSpPr txBox="1"/>
          <p:nvPr/>
        </p:nvSpPr>
        <p:spPr>
          <a:xfrm>
            <a:off x="-27130" y="6329858"/>
            <a:ext cx="12219127" cy="386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283F0"/>
                </a:solidFill>
                <a:latin typeface="Arial"/>
                <a:ea typeface="Arial"/>
                <a:cs typeface="Arial"/>
                <a:sym typeface="Arial"/>
              </a:rPr>
              <a:t>office@digitalstack.ro		www.digitalstack.ro</a:t>
            </a:r>
            <a:endParaRPr sz="1400">
              <a:solidFill>
                <a:srgbClr val="0283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24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9296" y="1885673"/>
            <a:ext cx="9693408" cy="1971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1214</Words>
  <Application>Microsoft Office PowerPoint</Application>
  <PresentationFormat>Widescreen</PresentationFormat>
  <Paragraphs>196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Calibri</vt:lpstr>
      <vt:lpstr>Jost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Andreea Miruna Dudu</cp:lastModifiedBy>
  <cp:revision>60</cp:revision>
  <dcterms:modified xsi:type="dcterms:W3CDTF">2026-07-15T08:14:49Z</dcterms:modified>
</cp:coreProperties>
</file>